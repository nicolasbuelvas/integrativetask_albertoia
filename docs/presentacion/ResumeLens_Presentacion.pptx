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85800"/>
            <a:ext cx="10728655" cy="5486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Segoe UI"/>
              </a:defRPr>
            </a:pPr>
            <a:r>
              <a:t>UNIVERSIDAD ICESI  ·  SCHOOL OF ENGINEERING  ·  DEPARTMENT OF ICT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Discrete Structures III (CyED III, Course 09772)  ·  Group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996696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600" b="1">
                <a:solidFill>
                  <a:srgbClr val="F8FAFC"/>
                </a:solidFill>
                <a:latin typeface="Arial"/>
              </a:defRPr>
            </a:pPr>
            <a:r>
              <a:t>ResumeLens</a:t>
            </a:r>
          </a:p>
          <a:p>
            <a:pPr>
              <a:spcBef>
                <a:spcPts val="600"/>
              </a:spcBef>
              <a:defRPr sz="1600" b="0">
                <a:solidFill>
                  <a:srgbClr val="38BDF8"/>
                </a:solidFill>
                <a:latin typeface="Segoe UI"/>
              </a:defRPr>
            </a:pPr>
            <a:r>
              <a:t>Formal Language-Based Resume Screening Using Transducers, Automata, and Context-Free Grammars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931920"/>
            <a:ext cx="3200400" cy="1828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114800"/>
            <a:ext cx="28346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Segoe UI"/>
              </a:defRPr>
            </a:pPr>
            <a:r>
              <a:t>Nicolás Santiago Buelvas González</a:t>
            </a:r>
          </a:p>
          <a:p>
            <a:pPr>
              <a:spcBef>
                <a:spcPts val="5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Stages 1 &amp; 2: Regex Extraction &amp; FST Normalization</a:t>
            </a:r>
          </a:p>
          <a:p>
            <a:pPr>
              <a:spcBef>
                <a:spcPts val="600"/>
              </a:spcBef>
              <a:defRPr sz="1000">
                <a:solidFill>
                  <a:srgbClr val="0284C7"/>
                </a:solidFill>
                <a:latin typeface="Segoe UI"/>
              </a:defRPr>
            </a:pPr>
            <a:r>
              <a:t>Advisor: Prof. Andrés Aristizábal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3931920"/>
            <a:ext cx="3200400" cy="1828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4114800"/>
            <a:ext cx="28346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Segoe UI"/>
              </a:defRPr>
            </a:pPr>
            <a:r>
              <a:t>Daniel Alexander Nastul Flórez</a:t>
            </a:r>
          </a:p>
          <a:p>
            <a:pPr>
              <a:spcBef>
                <a:spcPts val="5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Stages 3 &amp; 4: DFA Recognition &amp; textX DSL</a:t>
            </a:r>
          </a:p>
          <a:p>
            <a:pPr>
              <a:spcBef>
                <a:spcPts val="600"/>
              </a:spcBef>
              <a:defRPr sz="1000">
                <a:solidFill>
                  <a:srgbClr val="0284C7"/>
                </a:solidFill>
                <a:latin typeface="Segoe UI"/>
              </a:defRPr>
            </a:pPr>
            <a:r>
              <a:t>Advisor: Prof. Andrés Aristizábal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3931920"/>
            <a:ext cx="3200400" cy="1828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9" y="4114800"/>
            <a:ext cx="28346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Segoe UI"/>
              </a:defRPr>
            </a:pPr>
            <a:r>
              <a:t>Albert Valencia Escobar</a:t>
            </a:r>
          </a:p>
          <a:p>
            <a:pPr>
              <a:spcBef>
                <a:spcPts val="5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Stage 5: Visualization &amp; Empirical Verification</a:t>
            </a:r>
          </a:p>
          <a:p>
            <a:pPr>
              <a:spcBef>
                <a:spcPts val="600"/>
              </a:spcBef>
              <a:defRPr sz="1000">
                <a:solidFill>
                  <a:srgbClr val="0284C7"/>
                </a:solidFill>
                <a:latin typeface="Segoe UI"/>
              </a:defRPr>
            </a:pPr>
            <a:r>
              <a:t>Advisor: Prof. Andrés Aristizábal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RESUMELENS · FORMAL RESUME SCREENING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Problem Statement: The Limits of Naive Screening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290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297180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Segoe UI"/>
              </a:defRPr>
            </a:pPr>
            <a:r>
              <a:t>1. Lexical Fragmentation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Technical skills lack standardized representation across candidate resumes.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•  'PostgreSQL', 'Postgres', 'postgres', 'psql'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•  'React.js', 'ReactJS', 'React', 'react'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•  Direct string matching fails on lexical synonyms.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•  Surface noise breaks traditional keyword filters.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371600"/>
            <a:ext cx="34290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1600200"/>
            <a:ext cx="297180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Segoe UI"/>
              </a:defRPr>
            </a:pPr>
            <a:r>
              <a:t>2. Structural Insensitivity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Keyword counting ignores critical architectural hierarchy and prerequisite stacks.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•  Full Stack requires Frontend -&gt; Backend -&gt; DB.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•  Keyword bags accept resumes missing core tiers.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•  Fails to enforce prerequisite competencies.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•  Syntactic sequence is completely discarded.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371600"/>
            <a:ext cx="34290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38744" y="1600200"/>
            <a:ext cx="297180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Segoe UI"/>
              </a:defRPr>
            </a:pPr>
            <a:r>
              <a:t>3. The Black-Box Deficit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Opaque deep learning / LLMs introduce compliance and reproducibility hazards.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•  Unexplainable candidate rejections.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•  Hallucination and non-deterministic scores.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•  Lack of formal mathematical audit trails.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•  Regulatory compliance and fairness risks.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86400"/>
            <a:ext cx="10728655" cy="9144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596128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RESEARCH OBJECTIVE &amp; FORMAL THESIS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Construct an inspectable, fully deterministic pipeline leveraging Formal Language Theory (Chomsky Hierarchy: Regular Languages, Finite-State Transducers, Deterministic Finite Automata, and Context-Free Grammars) to audit and classify resume qualifications.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RESUMELENS · FORMAL RESUME SCREENING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System Architecture: End-to-End 5-Stage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029968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36192"/>
            <a:ext cx="1755648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STAGE 1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  <a:latin typeface="Arial"/>
              </a:defRPr>
            </a:pPr>
            <a:r>
              <a:t>Entity Extraction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 b="1">
                <a:solidFill>
                  <a:srgbClr val="0284C7"/>
                </a:solidFill>
                <a:latin typeface="Segoe UI"/>
              </a:defRPr>
            </a:pPr>
            <a:r>
              <a:t>Python Regex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Raw plain-text curricula parsed for contact info and surface technical keywords.</a:t>
            </a:r>
          </a:p>
          <a:p>
            <a:pPr>
              <a:spcBef>
                <a:spcPts val="800"/>
              </a:spcBef>
              <a:defRPr sz="850" b="1">
                <a:solidFill>
                  <a:srgbClr val="2563EB"/>
                </a:solidFill>
                <a:latin typeface="Segoe UI"/>
              </a:defRPr>
            </a:pPr>
            <a:r>
              <a:t>Input: Raw CV Text</a:t>
            </a:r>
            <a:br/>
            <a:r>
              <a:t>Output: Surface Token Set</a:t>
            </a:r>
          </a:p>
          <a:p>
            <a:pPr>
              <a:spcBef>
                <a:spcPts val="600"/>
              </a:spcBef>
              <a:defRPr sz="850" b="1">
                <a:solidFill>
                  <a:srgbClr val="1E293B"/>
                </a:solidFill>
                <a:latin typeface="Courier New"/>
              </a:defRPr>
            </a:pPr>
            <a:r>
              <a:t>L(R) ⊆ Σ_text*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1" y="1371600"/>
            <a:ext cx="2029968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1" y="1536192"/>
            <a:ext cx="1755648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STAGE 2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  <a:latin typeface="Arial"/>
              </a:defRPr>
            </a:pPr>
            <a:r>
              <a:t>FST Normalization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 b="1">
                <a:solidFill>
                  <a:srgbClr val="0284C7"/>
                </a:solidFill>
                <a:latin typeface="Segoe UI"/>
              </a:defRPr>
            </a:pPr>
            <a:r>
              <a:t>pyformlang FST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Transduces surface aliases to canonical tokens and applies categorical role sorting.</a:t>
            </a:r>
          </a:p>
          <a:p>
            <a:pPr>
              <a:spcBef>
                <a:spcPts val="800"/>
              </a:spcBef>
              <a:defRPr sz="850" b="1">
                <a:solidFill>
                  <a:srgbClr val="2563EB"/>
                </a:solidFill>
                <a:latin typeface="Segoe UI"/>
              </a:defRPr>
            </a:pPr>
            <a:r>
              <a:t>Input: Surface Tokens</a:t>
            </a:r>
            <a:br/>
            <a:r>
              <a:t>Output: Canonical Sequence</a:t>
            </a:r>
          </a:p>
          <a:p>
            <a:pPr>
              <a:spcBef>
                <a:spcPts val="600"/>
              </a:spcBef>
              <a:defRPr sz="850" b="1">
                <a:solidFill>
                  <a:srgbClr val="1E293B"/>
                </a:solidFill>
                <a:latin typeface="Courier New"/>
              </a:defRPr>
            </a:pPr>
            <a:r>
              <a:t>M = (Q,Σ,Γ,δ,ω,q0,F)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1371600"/>
            <a:ext cx="2029968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21224" y="1536192"/>
            <a:ext cx="1755648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STAGE 3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  <a:latin typeface="Arial"/>
              </a:defRPr>
            </a:pPr>
            <a:r>
              <a:t>Profile Recognition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 b="1">
                <a:solidFill>
                  <a:srgbClr val="0284C7"/>
                </a:solidFill>
                <a:latin typeface="Segoe UI"/>
              </a:defRPr>
            </a:pPr>
            <a:r>
              <a:t>Deterministic FA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Evaluates sorted canonical sequence against strict multi-tier role automata.</a:t>
            </a:r>
          </a:p>
          <a:p>
            <a:pPr>
              <a:spcBef>
                <a:spcPts val="800"/>
              </a:spcBef>
              <a:defRPr sz="850" b="1">
                <a:solidFill>
                  <a:srgbClr val="2563EB"/>
                </a:solidFill>
                <a:latin typeface="Segoe UI"/>
              </a:defRPr>
            </a:pPr>
            <a:r>
              <a:t>Input: Sorted Sequence</a:t>
            </a:r>
            <a:br/>
            <a:r>
              <a:t>Output: ACCEPT / REJECT</a:t>
            </a:r>
          </a:p>
          <a:p>
            <a:pPr>
              <a:spcBef>
                <a:spcPts val="600"/>
              </a:spcBef>
              <a:defRPr sz="850" b="1">
                <a:solidFill>
                  <a:srgbClr val="1E293B"/>
                </a:solidFill>
                <a:latin typeface="Courier New"/>
              </a:defRPr>
            </a:pPr>
            <a:r>
              <a:t>M = (Q,Σ,δ,q0,F)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0336" y="1371600"/>
            <a:ext cx="2029968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97496" y="1536192"/>
            <a:ext cx="1755648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STAGE 4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  <a:latin typeface="Arial"/>
              </a:defRPr>
            </a:pPr>
            <a:r>
              <a:t>DSL Specification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 b="1">
                <a:solidFill>
                  <a:srgbClr val="0284C7"/>
                </a:solidFill>
                <a:latin typeface="Segoe UI"/>
              </a:defRPr>
            </a:pPr>
            <a:r>
              <a:t>textX CFG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Parses and validates candidate data into strongly typed Abstract Syntax Trees.</a:t>
            </a:r>
          </a:p>
          <a:p>
            <a:pPr>
              <a:spcBef>
                <a:spcPts val="800"/>
              </a:spcBef>
              <a:defRPr sz="850" b="1">
                <a:solidFill>
                  <a:srgbClr val="2563EB"/>
                </a:solidFill>
                <a:latin typeface="Segoe UI"/>
              </a:defRPr>
            </a:pPr>
            <a:r>
              <a:t>Input: Candidate Model</a:t>
            </a:r>
            <a:br/>
            <a:r>
              <a:t>Output: Validated AST</a:t>
            </a:r>
          </a:p>
          <a:p>
            <a:pPr>
              <a:spcBef>
                <a:spcPts val="600"/>
              </a:spcBef>
              <a:defRPr sz="850" b="1">
                <a:solidFill>
                  <a:srgbClr val="1E293B"/>
                </a:solidFill>
                <a:latin typeface="Courier New"/>
              </a:defRPr>
            </a:pPr>
            <a:r>
              <a:t>G = (VN,VT,P,S)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36608" y="1371600"/>
            <a:ext cx="2029968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73768" y="1536192"/>
            <a:ext cx="1755648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STAGE 5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  <a:latin typeface="Arial"/>
              </a:defRPr>
            </a:pPr>
            <a:r>
              <a:t>Artifact Generation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 b="1">
                <a:solidFill>
                  <a:srgbClr val="0284C7"/>
                </a:solidFill>
                <a:latin typeface="Segoe UI"/>
              </a:defRPr>
            </a:pPr>
            <a:r>
              <a:t>Jinja2 &amp; MD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Produces human-readable visual scorecards, Markdown summaries, and serialized DSL.</a:t>
            </a:r>
          </a:p>
          <a:p>
            <a:pPr>
              <a:spcBef>
                <a:spcPts val="800"/>
              </a:spcBef>
              <a:defRPr sz="850" b="1">
                <a:solidFill>
                  <a:srgbClr val="2563EB"/>
                </a:solidFill>
                <a:latin typeface="Segoe UI"/>
              </a:defRPr>
            </a:pPr>
            <a:r>
              <a:t>Input: Validated AST</a:t>
            </a:r>
            <a:br/>
            <a:r>
              <a:t>Output: Multi-Format Reports</a:t>
            </a:r>
          </a:p>
          <a:p>
            <a:pPr>
              <a:spcBef>
                <a:spcPts val="600"/>
              </a:spcBef>
              <a:defRPr sz="850" b="1">
                <a:solidFill>
                  <a:srgbClr val="1E293B"/>
                </a:solidFill>
                <a:latin typeface="Courier New"/>
              </a:defRPr>
            </a:pPr>
            <a:r>
              <a:t>Traceable Artifacts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486400"/>
            <a:ext cx="10728655" cy="914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596128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PIPELINE GUARANTEE: DETERMINISM &amp; TRACEABILITY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Every candidate decision is auditable: inputs trace linearly through formal transducers and finite automata. Zero opaque weights, zero stochastic inference.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RESUMELENS · FORMAL RESUME SCREENING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Stage 1: Contact &amp; Technical Skill Extraction (Regex)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475488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Arial"/>
              </a:defRPr>
            </a:pPr>
            <a:r>
              <a:t>Contact Language Specifications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Email Language (L_email):</a:t>
            </a:r>
          </a:p>
          <a:p>
            <a:pPr>
              <a:defRPr sz="900">
                <a:solidFill>
                  <a:srgbClr val="1E293B"/>
                </a:solidFill>
                <a:latin typeface="Courier New"/>
              </a:defRPr>
            </a:pPr>
            <a:r>
              <a:t>\b[A-Za-z0-9._%+-]+@[A-Za-z0-9.-]+\.[A-Za-z]{2,}\b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Phone Language (L_phone):</a:t>
            </a:r>
          </a:p>
          <a:p>
            <a:pPr>
              <a:defRPr sz="900">
                <a:solidFill>
                  <a:srgbClr val="1E293B"/>
                </a:solidFill>
                <a:latin typeface="Courier New"/>
              </a:defRPr>
            </a:pPr>
            <a:r>
              <a:t>(?:(?:\+|00)\d{1,3}[\s.-]?)?(?:\(?\d{2,4}\)?[\s.-]?)?\d{3,4}[\s.-]?\d{3,4}\b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LinkedIn Profile Language:</a:t>
            </a:r>
          </a:p>
          <a:p>
            <a:pPr>
              <a:defRPr sz="900">
                <a:solidFill>
                  <a:srgbClr val="1E293B"/>
                </a:solidFill>
                <a:latin typeface="Courier New"/>
              </a:defRPr>
            </a:pPr>
            <a:r>
              <a:t>(?:https?:\/\/)?(?:www\.)?linkedin\.com\/in\/([A-Za-z0-9_-]+)\/?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GitHub Profile Language:</a:t>
            </a:r>
          </a:p>
          <a:p>
            <a:pPr>
              <a:defRPr sz="900">
                <a:solidFill>
                  <a:srgbClr val="1E293B"/>
                </a:solidFill>
                <a:latin typeface="Courier New"/>
              </a:defRPr>
            </a:pPr>
            <a:r>
              <a:t>(?:https?:\/\/)?(?:www\.)?github\.com\/([A-Za-z0-9_-]+)\/?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42255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00200"/>
            <a:ext cx="475488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Arial"/>
              </a:defRPr>
            </a:pPr>
            <a:r>
              <a:t>Technical Skill Boundary Patterns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Skill Entity Language Definition:</a:t>
            </a:r>
          </a:p>
          <a:p>
            <a:pPr>
              <a:defRPr sz="900">
                <a:solidFill>
                  <a:srgbClr val="1E293B"/>
                </a:solidFill>
                <a:latin typeface="Courier New"/>
              </a:defRPr>
            </a:pPr>
            <a:r>
              <a:t>For canonical token k, R_k = \b (v1 | v2 | ... | vm) \b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JavaScript Surface Pattern:</a:t>
            </a:r>
          </a:p>
          <a:p>
            <a:pPr>
              <a:defRPr sz="900">
                <a:solidFill>
                  <a:srgbClr val="1E293B"/>
                </a:solidFill>
                <a:latin typeface="Courier New"/>
              </a:defRPr>
            </a:pPr>
            <a:r>
              <a:t>\b(JavaScript|Javascript|JS)\b (case-sensitive)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React Surface Pattern:</a:t>
            </a:r>
          </a:p>
          <a:p>
            <a:pPr>
              <a:defRPr sz="900">
                <a:solidFill>
                  <a:srgbClr val="1E293B"/>
                </a:solidFill>
                <a:latin typeface="Courier New"/>
              </a:defRPr>
            </a:pPr>
            <a:r>
              <a:t>\bReact(?:\.js|JS)?\b (case-insensitive)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PostgreSQL Surface Pattern:</a:t>
            </a:r>
          </a:p>
          <a:p>
            <a:pPr>
              <a:defRPr sz="900">
                <a:solidFill>
                  <a:srgbClr val="1E293B"/>
                </a:solidFill>
                <a:latin typeface="Courier New"/>
              </a:defRPr>
            </a:pPr>
            <a:r>
              <a:t>\bPostgre(?:SQL|s)\b (case-insensitive)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Scikit-Learn Surface Pattern:</a:t>
            </a:r>
          </a:p>
          <a:p>
            <a:pPr>
              <a:defRPr sz="900">
                <a:solidFill>
                  <a:srgbClr val="1E293B"/>
                </a:solidFill>
                <a:latin typeface="Courier New"/>
              </a:defRPr>
            </a:pPr>
            <a:r>
              <a:t>\b(scikit[- ]learn|sklearn)\b (case-insensitive)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486400"/>
            <a:ext cx="10728655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596128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EXTRACTION SCOPE &amp; DESIGN DECISION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Stage 1 extracts the surface tokens exactly as written (e.g. 'JS', 'React.js', 'Postgres'). It deliberately avoids canonical mapping to keep Stage 1 strictly lexical and decouple extraction from canonical transduction.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RESUMELENS · FORMAL RESUME SCREENING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Stage 2: Finite-State Transducers for Skill Normalization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475488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Arial"/>
              </a:defRPr>
            </a:pPr>
            <a:r>
              <a:t>Formal 7-Tuple Definition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 b="1">
                <a:solidFill>
                  <a:srgbClr val="1E293B"/>
                </a:solidFill>
                <a:latin typeface="Courier New"/>
              </a:defRPr>
            </a:pPr>
            <a:r>
              <a:t>M = ( Q, Σ, Γ, δ, ω, q0, F )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Q:  Finite set of states tracking consumed character prefixes.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Σ:  Input alphabet: 47 symbols (ASCII letters, digits, '.', '-', ' ').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Γ:  Output alphabet: 34 canonical tokens (e.g., JAVASCRIPT, REACT).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δ:  Transition relation: Q × Σ → 2^Q (nondeterministic prefix tree).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ω:  Emission function: ω(q, c) = ε for prefixes; ω(q_end, c) = K ∈ Γ.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q0:  Unique start state shared across all word branches.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F:  Set of accepting final states (|F| = 66 in M_SE, 55 in M_AI).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42255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00200"/>
            <a:ext cx="475488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Arial"/>
              </a:defRPr>
            </a:pPr>
            <a:r>
              <a:t>Prefix Transitions &amp; Canonical Emission</a:t>
            </a:r>
          </a:p>
          <a:p>
            <a:pPr>
              <a:spcBef>
                <a:spcPts val="500"/>
              </a:spcBef>
              <a:defRPr sz="900" b="1">
                <a:solidFill>
                  <a:srgbClr val="1E293B"/>
                </a:solidFill>
                <a:latin typeface="Courier New"/>
              </a:defRPr>
            </a:pPr>
            <a:r>
              <a:t>δ(q0, 'J') = q_JS1  --&gt;  ω = ε (silent prefix consumption)</a:t>
            </a:r>
          </a:p>
          <a:p>
            <a:pPr>
              <a:spcBef>
                <a:spcPts val="500"/>
              </a:spcBef>
              <a:defRPr sz="900" b="1">
                <a:solidFill>
                  <a:srgbClr val="1E293B"/>
                </a:solidFill>
                <a:latin typeface="Courier New"/>
              </a:defRPr>
            </a:pPr>
            <a:r>
              <a:t>δ(q_JS1, 'S') = q_JS2 ∈ F  --&gt;  ω = JAVASCRIPT (emitted on final edge)</a:t>
            </a:r>
          </a:p>
          <a:p>
            <a:pPr>
              <a:spcBef>
                <a:spcPts val="500"/>
              </a:spcBef>
              <a:defRPr sz="900" b="1">
                <a:solidFill>
                  <a:srgbClr val="1E293B"/>
                </a:solidFill>
                <a:latin typeface="Courier New"/>
              </a:defRPr>
            </a:pPr>
            <a:r>
              <a:t>δ(q0, 'R') = q_React1  --&gt;  ω = ε</a:t>
            </a:r>
          </a:p>
          <a:p>
            <a:pPr>
              <a:spcBef>
                <a:spcPts val="500"/>
              </a:spcBef>
              <a:defRPr sz="900" b="1">
                <a:solidFill>
                  <a:srgbClr val="1E293B"/>
                </a:solidFill>
                <a:latin typeface="Courier New"/>
              </a:defRPr>
            </a:pPr>
            <a:r>
              <a:t>δ(q_React1..5, 'e','a','c','t','.') = q_React6  --&gt;  ω = ε</a:t>
            </a:r>
          </a:p>
          <a:p>
            <a:pPr>
              <a:spcBef>
                <a:spcPts val="500"/>
              </a:spcBef>
              <a:defRPr sz="900" b="1">
                <a:solidFill>
                  <a:srgbClr val="1E293B"/>
                </a:solidFill>
                <a:latin typeface="Courier New"/>
              </a:defRPr>
            </a:pPr>
            <a:r>
              <a:t>δ(q_React6, 'j') = q_React7  --&gt;  ω = ε</a:t>
            </a:r>
          </a:p>
          <a:p>
            <a:pPr>
              <a:spcBef>
                <a:spcPts val="500"/>
              </a:spcBef>
              <a:defRPr sz="900" b="1">
                <a:solidFill>
                  <a:srgbClr val="1E293B"/>
                </a:solidFill>
                <a:latin typeface="Courier New"/>
              </a:defRPr>
            </a:pPr>
            <a:r>
              <a:t>δ(q_React7, 's') = q_React8 ∈ F  --&gt;  ω = REACT (emitted on final edge)</a:t>
            </a:r>
          </a:p>
          <a:p>
            <a:pPr>
              <a:spcBef>
                <a:spcPts val="1200"/>
              </a:spcBef>
              <a:defRPr sz="1100" b="1">
                <a:solidFill>
                  <a:srgbClr val="0284C7"/>
                </a:solidFill>
                <a:latin typeface="Segoe UI"/>
              </a:defRPr>
            </a:pPr>
            <a:r>
              <a:t>Two Specialized Transducer Engines: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Segoe UI"/>
              </a:defRPr>
            </a:pPr>
            <a:r>
              <a:t>• M_SE: 438 states, 66 final states, 21 canonical software tokens.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  <a:latin typeface="Segoe UI"/>
              </a:defRPr>
            </a:pPr>
            <a:r>
              <a:t>• M_AI: 367 states, 55 final states, 17 canonical data &amp; ML tokens.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486400"/>
            <a:ext cx="10728655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596128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CANONICAL TAXONOMY INTEGRITY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By separating software engineering (M_SE) and data/AI (M_AI) transducers, the system guarantees domain precision while unifying emissions into the 34-symbol canonical taxonomy.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RESUMELENS · FORMAL RESUME SCREENING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Stage 2: Canonical Ordering Hierarchy for DFA Invariance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475488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Arial"/>
              </a:defRPr>
            </a:pPr>
            <a:r>
              <a:t>The Order Invariance Challenge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Candidates list qualifications in arbitrary physical layouts (e.g., Git before Python, or SQL before React). Naive finite automata would reject valid candidates due to permutations.</a:t>
            </a:r>
          </a:p>
          <a:p>
            <a:pPr>
              <a:spcBef>
                <a:spcPts val="800"/>
              </a:spcBef>
              <a:defRPr sz="1100" b="1">
                <a:solidFill>
                  <a:srgbClr val="0284C7"/>
                </a:solidFill>
                <a:latin typeface="Segoe UI"/>
              </a:defRPr>
            </a:pPr>
            <a:r>
              <a:t>Canonical Sorting Function:</a:t>
            </a:r>
          </a:p>
          <a:p>
            <a:pPr>
              <a:spcBef>
                <a:spcPts val="300"/>
              </a:spcBef>
              <a:defRPr sz="950" b="1">
                <a:solidFill>
                  <a:srgbClr val="1E293B"/>
                </a:solidFill>
                <a:latin typeface="Courier New"/>
              </a:defRPr>
            </a:pPr>
            <a:r>
              <a:t>Sort(S, P) = order by (Priority(Category(s, P)), s)   ∀ s ∈ (S ∩ Σ_P)</a:t>
            </a:r>
          </a:p>
          <a:p>
            <a:pPr>
              <a:spcBef>
                <a:spcPts val="800"/>
              </a:spcBef>
              <a:defRPr sz="1000">
                <a:solidFill>
                  <a:srgbClr val="475569"/>
                </a:solidFill>
                <a:latin typeface="Segoe UI"/>
              </a:defRPr>
            </a:pPr>
            <a:r>
              <a:t>1. Tokens outside profile alphabet Σ_P are discarded.</a:t>
            </a:r>
            <a:br/>
            <a:r>
              <a:t>2. Tokens are ordered by tier priority, then alphabetically.</a:t>
            </a:r>
            <a:br/>
            <a:r>
              <a:t>3. Guarantees deterministic input sequences into Stage 3 automata.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42255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00200"/>
            <a:ext cx="475488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Arial"/>
              </a:defRPr>
            </a:pPr>
            <a:r>
              <a:t>Step-by-Step Sorting Transformation</a:t>
            </a:r>
          </a:p>
          <a:p>
            <a:pPr>
              <a:spcBef>
                <a:spcPts val="500"/>
              </a:spcBef>
              <a:defRPr sz="1000" b="1">
                <a:solidFill>
                  <a:srgbClr val="0284C7"/>
                </a:solidFill>
                <a:latin typeface="Segoe UI"/>
              </a:defRPr>
            </a:pPr>
            <a:r>
              <a:t>Raw Text Input:</a:t>
            </a:r>
          </a:p>
          <a:p>
            <a:pPr>
              <a:spcBef>
                <a:spcPts val="100"/>
              </a:spcBef>
              <a:defRPr sz="900">
                <a:solidFill>
                  <a:srgbClr val="1E293B"/>
                </a:solidFill>
                <a:latin typeface="Courier New"/>
              </a:defRPr>
            </a:pPr>
            <a:r>
              <a:t>'Experienced in Git, Postgres, React.js, and JS'</a:t>
            </a:r>
          </a:p>
          <a:p>
            <a:pPr>
              <a:spcBef>
                <a:spcPts val="500"/>
              </a:spcBef>
              <a:defRPr sz="1000" b="1">
                <a:solidFill>
                  <a:srgbClr val="0284C7"/>
                </a:solidFill>
                <a:latin typeface="Segoe UI"/>
              </a:defRPr>
            </a:pPr>
            <a:r>
              <a:t>Stage 1 Extracted Tokens:</a:t>
            </a:r>
          </a:p>
          <a:p>
            <a:pPr>
              <a:spcBef>
                <a:spcPts val="100"/>
              </a:spcBef>
              <a:defRPr sz="900">
                <a:solidFill>
                  <a:srgbClr val="1E293B"/>
                </a:solidFill>
                <a:latin typeface="Courier New"/>
              </a:defRPr>
            </a:pPr>
            <a:r>
              <a:t>['Git', 'Postgres', 'React.js', 'JS']</a:t>
            </a:r>
          </a:p>
          <a:p>
            <a:pPr>
              <a:spcBef>
                <a:spcPts val="500"/>
              </a:spcBef>
              <a:defRPr sz="1000" b="1">
                <a:solidFill>
                  <a:srgbClr val="0284C7"/>
                </a:solidFill>
                <a:latin typeface="Segoe UI"/>
              </a:defRPr>
            </a:pPr>
            <a:r>
              <a:t>Stage 2 Transduced Canonical:</a:t>
            </a:r>
          </a:p>
          <a:p>
            <a:pPr>
              <a:spcBef>
                <a:spcPts val="100"/>
              </a:spcBef>
              <a:defRPr sz="900">
                <a:solidFill>
                  <a:srgbClr val="1E293B"/>
                </a:solidFill>
                <a:latin typeface="Courier New"/>
              </a:defRPr>
            </a:pPr>
            <a:r>
              <a:t>['GIT', 'POSTGRESQL', 'REACT', 'JAVASCRIPT']</a:t>
            </a:r>
          </a:p>
          <a:p>
            <a:pPr>
              <a:spcBef>
                <a:spcPts val="500"/>
              </a:spcBef>
              <a:defRPr sz="1000" b="1">
                <a:solidFill>
                  <a:srgbClr val="0284C7"/>
                </a:solidFill>
                <a:latin typeface="Segoe UI"/>
              </a:defRPr>
            </a:pPr>
            <a:r>
              <a:t>Full Stack Hierarchy Tiers:</a:t>
            </a:r>
          </a:p>
          <a:p>
            <a:pPr>
              <a:spcBef>
                <a:spcPts val="100"/>
              </a:spcBef>
              <a:defRPr sz="900">
                <a:solidFill>
                  <a:srgbClr val="1E293B"/>
                </a:solidFill>
                <a:latin typeface="Courier New"/>
              </a:defRPr>
            </a:pPr>
            <a:r>
              <a:t>Language (1) -&gt; Frontend (2) -&gt; Backend (3) -&gt; DB (4) -&gt; Tools (5)</a:t>
            </a:r>
          </a:p>
          <a:p>
            <a:pPr>
              <a:spcBef>
                <a:spcPts val="500"/>
              </a:spcBef>
              <a:defRPr sz="1000" b="1">
                <a:solidFill>
                  <a:srgbClr val="0284C7"/>
                </a:solidFill>
                <a:latin typeface="Segoe UI"/>
              </a:defRPr>
            </a:pPr>
            <a:r>
              <a:t>Canonically Sorted Sequence:</a:t>
            </a:r>
          </a:p>
          <a:p>
            <a:pPr>
              <a:spcBef>
                <a:spcPts val="100"/>
              </a:spcBef>
              <a:defRPr sz="900">
                <a:solidFill>
                  <a:srgbClr val="1E293B"/>
                </a:solidFill>
                <a:latin typeface="Courier New"/>
              </a:defRPr>
            </a:pPr>
            <a:r>
              <a:t>['JAVASCRIPT', 'REACT', 'POSTGRESQL', 'GIT']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486400"/>
            <a:ext cx="10728655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596128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MATHEMATICAL RESULT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Permutation invariance is solved in O(N log N) canonical normalization, preserving strict linear DFA state-transition paths without combinatorial state explosion.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RESUMELENS · FORMAL RESUME SCREENING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Stage 3: Profile Classification with Deterministic Finite Automata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578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89204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rial"/>
              </a:defRPr>
            </a:pPr>
            <a:r>
              <a:t>Full Stack Developer</a:t>
            </a:r>
          </a:p>
          <a:p>
            <a:pPr>
              <a:spcBef>
                <a:spcPts val="100"/>
              </a:spcBef>
              <a:defRPr sz="1000" b="1">
                <a:solidFill>
                  <a:srgbClr val="0284C7"/>
                </a:solidFill>
                <a:latin typeface="Segoe UI"/>
              </a:defRPr>
            </a:pPr>
            <a:r>
              <a:t>6 States  ·  1 Final State</a:t>
            </a:r>
          </a:p>
          <a:p>
            <a:pPr>
              <a:spcBef>
                <a:spcPts val="300"/>
              </a:spcBef>
              <a:defRPr sz="850" b="1">
                <a:solidFill>
                  <a:srgbClr val="1E293B"/>
                </a:solidFill>
                <a:latin typeface="Courier New"/>
              </a:defRPr>
            </a:pPr>
            <a:r>
              <a:t>q0_start -&gt; q1_lang -&gt; q2_fe -&gt; q3_be -&gt; q4_db -&gt; q5_final</a:t>
            </a:r>
          </a:p>
          <a:p>
            <a:pPr>
              <a:spcBef>
                <a:spcPts val="3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Enforces complete vertical competency: web language, frontend UI framework, backend server runtime, database, and version control tools.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371600"/>
            <a:ext cx="52578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508760"/>
            <a:ext cx="489204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rial"/>
              </a:defRPr>
            </a:pPr>
            <a:r>
              <a:t>Machine Learning Eng.</a:t>
            </a:r>
          </a:p>
          <a:p>
            <a:pPr>
              <a:spcBef>
                <a:spcPts val="100"/>
              </a:spcBef>
              <a:defRPr sz="1000" b="1">
                <a:solidFill>
                  <a:srgbClr val="0284C7"/>
                </a:solidFill>
                <a:latin typeface="Segoe UI"/>
              </a:defRPr>
            </a:pPr>
            <a:r>
              <a:t>6 States  ·  1 Final State</a:t>
            </a:r>
          </a:p>
          <a:p>
            <a:pPr>
              <a:spcBef>
                <a:spcPts val="300"/>
              </a:spcBef>
              <a:defRPr sz="850" b="1">
                <a:solidFill>
                  <a:srgbClr val="1E293B"/>
                </a:solidFill>
                <a:latin typeface="Courier New"/>
              </a:defRPr>
            </a:pPr>
            <a:r>
              <a:t>q0_start -&gt; q1_lang -&gt; q2_prep -&gt; q3_framework -&gt; q4_db -&gt; q5_final</a:t>
            </a:r>
          </a:p>
          <a:p>
            <a:pPr>
              <a:spcBef>
                <a:spcPts val="3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Enforces core analytical pipeline: Python/R, data preparation (Pandas/NumPy), ML framework (PyTorch/Scikit-learn), storage, and tooling.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52578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489204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rial"/>
              </a:defRPr>
            </a:pPr>
            <a:r>
              <a:t>Backend Developer</a:t>
            </a:r>
          </a:p>
          <a:p>
            <a:pPr>
              <a:spcBef>
                <a:spcPts val="100"/>
              </a:spcBef>
              <a:defRPr sz="1000" b="1">
                <a:solidFill>
                  <a:srgbClr val="0284C7"/>
                </a:solidFill>
                <a:latin typeface="Segoe UI"/>
              </a:defRPr>
            </a:pPr>
            <a:r>
              <a:t>4 States  ·  1 Final State</a:t>
            </a:r>
          </a:p>
          <a:p>
            <a:pPr>
              <a:spcBef>
                <a:spcPts val="300"/>
              </a:spcBef>
              <a:defRPr sz="850" b="1">
                <a:solidFill>
                  <a:srgbClr val="1E293B"/>
                </a:solidFill>
                <a:latin typeface="Courier New"/>
              </a:defRPr>
            </a:pPr>
            <a:r>
              <a:t>q0_start -&gt; q1_be_tech -&gt; q2_db -&gt; q3_tools</a:t>
            </a:r>
          </a:p>
          <a:p>
            <a:pPr>
              <a:spcBef>
                <a:spcPts val="3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Evaluates backend stack progression: runtime service framework (Node/Django/Spring), persistence engine, and infrastructure/Git.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3383280"/>
            <a:ext cx="52578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3520440"/>
            <a:ext cx="489204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rial"/>
              </a:defRPr>
            </a:pPr>
            <a:r>
              <a:t>Data Engineer</a:t>
            </a:r>
          </a:p>
          <a:p>
            <a:pPr>
              <a:spcBef>
                <a:spcPts val="100"/>
              </a:spcBef>
              <a:defRPr sz="1000" b="1">
                <a:solidFill>
                  <a:srgbClr val="0284C7"/>
                </a:solidFill>
                <a:latin typeface="Segoe UI"/>
              </a:defRPr>
            </a:pPr>
            <a:r>
              <a:t>5 States  ·  2 Final States</a:t>
            </a:r>
          </a:p>
          <a:p>
            <a:pPr>
              <a:spcBef>
                <a:spcPts val="300"/>
              </a:spcBef>
              <a:defRPr sz="850" b="1">
                <a:solidFill>
                  <a:srgbClr val="1E293B"/>
                </a:solidFill>
                <a:latin typeface="Courier New"/>
              </a:defRPr>
            </a:pPr>
            <a:r>
              <a:t>q0_start -&gt; q1_role -&gt; q2_core -&gt; q3_proc -&gt; q4_final</a:t>
            </a:r>
          </a:p>
          <a:p>
            <a:pPr>
              <a:spcBef>
                <a:spcPts val="3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Evaluates data pipeline stack: core programming (Python/SQL/Scala), distributed processing (Spark/Airflow), and analytical warehouses.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486400"/>
            <a:ext cx="10728655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596128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FORMAL GUARANTEE OF DETERMINISM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All profile recognizers are verified DFAs: |δ(q, a)| ≤ 1 for every symbol a ∈ Σ, with no ε-transitions. An absent transition terminates processing in immediate formal rejection.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RESUMELENS · FORMAL RESUME SCREENING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Stage 3: Transition Structure &amp; Acceptance Mechanics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475488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Arial"/>
              </a:defRPr>
            </a:pPr>
            <a:r>
              <a:t>Full Stack Acceptance Trace: Lina Marquez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• q0_start  --&gt;  Consume 'JAVASCRIPT'  --&gt;  q1_lang (Language verified)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• q1_lang  --&gt;  Consume 'REACT'  --&gt;  q2_fe (Frontend UI verified)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• q2_fe  --&gt;  Consume 'NODE_JS'  --&gt;  q3_be (Backend runtime verified)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• q3_be  --&gt;  Consume 'POSTGRESQL'  --&gt;  q4_db (Persistence verified)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• q4_db  --&gt;  Consume 'GIT'  --&gt;  q5_final ∈ F_FS (ACCEPTED!)</a:t>
            </a:r>
          </a:p>
          <a:p>
            <a:pPr>
              <a:spcBef>
                <a:spcPts val="1200"/>
              </a:spcBef>
              <a:defRPr sz="1100" b="1">
                <a:solidFill>
                  <a:srgbClr val="059669"/>
                </a:solidFill>
                <a:latin typeface="Segoe UI"/>
              </a:defRPr>
            </a:pPr>
            <a:r>
              <a:t>STATUS: ACCEPTED (String reaches accepting state q5_final)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42255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00200"/>
            <a:ext cx="475488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DC2626"/>
                </a:solidFill>
                <a:latin typeface="Arial"/>
              </a:defRPr>
            </a:pPr>
            <a:r>
              <a:t>ML Engineer Rejection Trace: Dario Pineda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• q0_start:  Consume 'PYTHON'  --&gt;  q1_lang (Language verified)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• q1_lang:  Consume 'PANDAS'  --&gt;  q2_prep (Data prep verified)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• q2_prep:  Next token is 'POSTGRESQL'  --&gt;  REJECTED: δ(q2_prep, POSTGRESQL) = ∅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• Fault Analysis:  Missing ML Framework (Scikit-Learn/TensorFlow)  --&gt;  Cannot advance to q3_framework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• Result:  Cannot transition to q4_db or q5_final  --&gt;  Candidate terminated before final state</a:t>
            </a:r>
          </a:p>
          <a:p>
            <a:pPr>
              <a:spcBef>
                <a:spcPts val="1200"/>
              </a:spcBef>
              <a:defRPr sz="1100" b="1">
                <a:solidFill>
                  <a:srgbClr val="DC2626"/>
                </a:solidFill>
                <a:latin typeface="Segoe UI"/>
              </a:defRPr>
            </a:pPr>
            <a:r>
              <a:t>STATUS: REJECTED (Missing prerequisite framework tier)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486400"/>
            <a:ext cx="10728655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596128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EXPLAINABLE FAILURE ANALYSIS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Unlike opaque ML confidence scores, ResumeLens pinpoints exactly WHICH token caused the rejection and WHICH tier state could not be reached, offering full mathematical transparency.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RESUMELENS · FORMAL RESUME SCREENING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Stage 4: Context-Free Grammar (CFG) &amp; textX DSL Specification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475488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Arial"/>
              </a:defRPr>
            </a:pPr>
            <a:r>
              <a:t>Formal CFG 4-Tuple Model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 b="1">
                <a:solidFill>
                  <a:srgbClr val="1E293B"/>
                </a:solidFill>
                <a:latin typeface="Courier New"/>
              </a:defRPr>
            </a:pPr>
            <a:r>
              <a:t>G = ( V_N, V_T, P, S )</a:t>
            </a:r>
          </a:p>
          <a:p>
            <a:pPr>
              <a:spcBef>
                <a:spcPts val="400"/>
              </a:spcBef>
              <a:defRPr sz="1050" b="1">
                <a:solidFill>
                  <a:srgbClr val="0284C7"/>
                </a:solidFill>
                <a:latin typeface="Segoe UI"/>
              </a:defRPr>
            </a:pPr>
            <a:r>
              <a:t>V_N (Non-Terminals):</a:t>
            </a:r>
          </a:p>
          <a:p>
            <a:pPr>
              <a:spcBef>
                <a:spcPts val="100"/>
              </a:spcBef>
              <a:defRPr sz="900">
                <a:solidFill>
                  <a:srgbClr val="0F172A"/>
                </a:solidFill>
                <a:latin typeface="Courier New"/>
              </a:defRPr>
            </a:pPr>
            <a:r>
              <a:t>{ ResumeModel, Candidate, ContactInfo, Skills, Evaluation, ProfileStatus }</a:t>
            </a:r>
          </a:p>
          <a:p>
            <a:pPr>
              <a:spcBef>
                <a:spcPts val="400"/>
              </a:spcBef>
              <a:defRPr sz="1050" b="1">
                <a:solidFill>
                  <a:srgbClr val="0284C7"/>
                </a:solidFill>
                <a:latin typeface="Segoe UI"/>
              </a:defRPr>
            </a:pPr>
            <a:r>
              <a:t>V_T (Terminals):</a:t>
            </a:r>
          </a:p>
          <a:p>
            <a:pPr>
              <a:spcBef>
                <a:spcPts val="100"/>
              </a:spcBef>
              <a:defRPr sz="900">
                <a:solidFill>
                  <a:srgbClr val="0F172A"/>
                </a:solidFill>
                <a:latin typeface="Courier New"/>
              </a:defRPr>
            </a:pPr>
            <a:r>
              <a:t>{ 'candidate', 'skills', 'evaluation', 'ACCEPTED', 'REJECTED', STRING, INT }</a:t>
            </a:r>
          </a:p>
          <a:p>
            <a:pPr>
              <a:spcBef>
                <a:spcPts val="400"/>
              </a:spcBef>
              <a:defRPr sz="1050" b="1">
                <a:solidFill>
                  <a:srgbClr val="0284C7"/>
                </a:solidFill>
                <a:latin typeface="Segoe UI"/>
              </a:defRPr>
            </a:pPr>
            <a:r>
              <a:t>P (Production Rules):</a:t>
            </a:r>
          </a:p>
          <a:p>
            <a:pPr>
              <a:spcBef>
                <a:spcPts val="100"/>
              </a:spcBef>
              <a:defRPr sz="900">
                <a:solidFill>
                  <a:srgbClr val="0F172A"/>
                </a:solidFill>
                <a:latin typeface="Courier New"/>
              </a:defRPr>
            </a:pPr>
            <a:r>
              <a:t>EBNF grammar defining structured candidate declarations and typing.</a:t>
            </a:r>
          </a:p>
          <a:p>
            <a:pPr>
              <a:spcBef>
                <a:spcPts val="400"/>
              </a:spcBef>
              <a:defRPr sz="1050" b="1">
                <a:solidFill>
                  <a:srgbClr val="0284C7"/>
                </a:solidFill>
                <a:latin typeface="Segoe UI"/>
              </a:defRPr>
            </a:pPr>
            <a:r>
              <a:t>S (Start Symbol):</a:t>
            </a:r>
          </a:p>
          <a:p>
            <a:pPr>
              <a:spcBef>
                <a:spcPts val="100"/>
              </a:spcBef>
              <a:defRPr sz="900">
                <a:solidFill>
                  <a:srgbClr val="0F172A"/>
                </a:solidFill>
                <a:latin typeface="Courier New"/>
              </a:defRPr>
            </a:pPr>
            <a:r>
              <a:t>ResumeModel (top-level root of Abstract Syntax Tree)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42255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00200"/>
            <a:ext cx="475488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Arial"/>
              </a:defRPr>
            </a:pPr>
            <a:r>
              <a:t>Generated DSL Concrete Syntax</a:t>
            </a:r>
          </a:p>
          <a:p>
            <a:pPr>
              <a:spcBef>
                <a:spcPts val="600"/>
              </a:spcBef>
              <a:defRPr sz="900">
                <a:solidFill>
                  <a:srgbClr val="1E293B"/>
                </a:solidFill>
                <a:latin typeface="Courier New"/>
              </a:defRPr>
            </a:pPr>
            <a:r>
              <a:t>resume LinaMarquez {</a:t>
            </a:r>
            <a:br/>
            <a:r>
              <a:t>  candidate {</a:t>
            </a:r>
            <a:br/>
            <a:r>
              <a:t>    name: "Lina Marquez"</a:t>
            </a:r>
            <a:br/>
            <a:r>
              <a:t>    email: "lina.marquez@example.com"</a:t>
            </a:r>
            <a:br/>
            <a:r>
              <a:t>  }</a:t>
            </a:r>
            <a:br/>
            <a:r>
              <a:t>  skills {</a:t>
            </a:r>
            <a:br/>
            <a:r>
              <a:t>    canonical: [JAVASCRIPT, REACT, NODE_JS, POSTGRESQL, GIT]</a:t>
            </a:r>
            <a:br/>
            <a:r>
              <a:t>  }</a:t>
            </a:r>
            <a:br/>
            <a:r>
              <a:t>  evaluation {</a:t>
            </a:r>
            <a:br/>
            <a:r>
              <a:t>    profile "Full Stack Developer": ACCEPTED</a:t>
            </a:r>
            <a:br/>
            <a:r>
              <a:t>    profile "Backend Developer": ACCEPTED</a:t>
            </a:r>
            <a:br/>
            <a:r>
              <a:t>    profile "Machine Learning Engineer": REJECTED</a:t>
            </a:r>
            <a:br/>
            <a:r>
              <a:t>    profile "Data Engineer": REJECTED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486400"/>
            <a:ext cx="10728655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596128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TYPING &amp; INTEROPERABILITY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textX parses the DSL into a validated Python metamodel, ensuring candidate records conform to strict formal schema rules before report generation.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RESUMELENS · FORMAL RESUME SCREENING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Stage 5: Multi-Format Reporting &amp; Complete Audit Trail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290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297180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Arial"/>
              </a:defRPr>
            </a:pPr>
            <a:r>
              <a:t>HTML Visual Scorecard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050" b="1">
                <a:solidFill>
                  <a:srgbClr val="0284C7"/>
                </a:solidFill>
                <a:latin typeface="Segoe UI"/>
              </a:defRPr>
            </a:pPr>
            <a:r>
              <a:t>Interactive Visual Dashboard</a:t>
            </a:r>
          </a:p>
          <a:p>
            <a:pPr>
              <a:spcBef>
                <a:spcPts val="5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t>•  Candidate header with verified contact badges.</a:t>
            </a:r>
          </a:p>
          <a:p>
            <a:pPr>
              <a:spcBef>
                <a:spcPts val="5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t>•  Transduced skill list with canonical tag representation.</a:t>
            </a:r>
          </a:p>
          <a:p>
            <a:pPr>
              <a:spcBef>
                <a:spcPts val="5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t>•  Acceptance/rejection breakdown for all 4 profiles.</a:t>
            </a:r>
          </a:p>
          <a:p>
            <a:pPr>
              <a:spcBef>
                <a:spcPts val="5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t>•  Auditable execution summary for recruiters and auditors.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371600"/>
            <a:ext cx="34290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1600200"/>
            <a:ext cx="297180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Arial"/>
              </a:defRPr>
            </a:pPr>
            <a:r>
              <a:t>Markdown Summary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050" b="1">
                <a:solidFill>
                  <a:srgbClr val="0284C7"/>
                </a:solidFill>
                <a:latin typeface="Segoe UI"/>
              </a:defRPr>
            </a:pPr>
            <a:r>
              <a:t>Automated CI/CD Integration</a:t>
            </a:r>
          </a:p>
          <a:p>
            <a:pPr>
              <a:spcBef>
                <a:spcPts val="5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t>•  Lightweight plain-text summary format.</a:t>
            </a:r>
          </a:p>
          <a:p>
            <a:pPr>
              <a:spcBef>
                <a:spcPts val="5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t>•  Ideal for git-based recruitment workflows.</a:t>
            </a:r>
          </a:p>
          <a:p>
            <a:pPr>
              <a:spcBef>
                <a:spcPts val="5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t>•  Includes tabular evaluation summaries.</a:t>
            </a:r>
          </a:p>
          <a:p>
            <a:pPr>
              <a:spcBef>
                <a:spcPts val="5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t>•  Zero proprietary dependencies for viewing.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371600"/>
            <a:ext cx="34290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38744" y="1600200"/>
            <a:ext cx="297180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Arial"/>
              </a:defRPr>
            </a:pPr>
            <a:r>
              <a:t>Canonical DSL Serializer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050" b="1">
                <a:solidFill>
                  <a:srgbClr val="0284C7"/>
                </a:solidFill>
                <a:latin typeface="Segoe UI"/>
              </a:defRPr>
            </a:pPr>
            <a:r>
              <a:t>Typed Machine Interop</a:t>
            </a:r>
          </a:p>
          <a:p>
            <a:pPr>
              <a:spcBef>
                <a:spcPts val="5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t>•  Deterministic textual serialization.</a:t>
            </a:r>
          </a:p>
          <a:p>
            <a:pPr>
              <a:spcBef>
                <a:spcPts val="5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t>•  Validates 100% against the textX grammar.</a:t>
            </a:r>
          </a:p>
          <a:p>
            <a:pPr>
              <a:spcBef>
                <a:spcPts val="5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t>•  Enables downstream ATS system consumption.</a:t>
            </a:r>
          </a:p>
          <a:p>
            <a:pPr>
              <a:spcBef>
                <a:spcPts val="5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t>•  Idempotence: repeated runs yield identical files.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86400"/>
            <a:ext cx="10728655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596128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ONE-LINE CLI DEMO EXECUTION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  <a:latin typeface="Courier New"/>
              </a:defRPr>
            </a:pPr>
            <a:r>
              <a:t>Command:  python -m src.main --demo   (Processes all 6 synthetic resumes, builds formal models, and emits all report formats in under 1.2 seconds).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RESUMELENS · FORMAL RESUME SCREENING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Experimental Evaluation: Synthetic Dataset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60120" y="1600200"/>
          <a:ext cx="1027145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011680"/>
                <a:gridCol w="2103120"/>
                <a:gridCol w="3870655"/>
              </a:tblGrid>
              <a:tr h="49638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Resume File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Candidate Name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Target Profile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Observed Accepted Profiles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ourier New"/>
                        </a:defRPr>
                      </a:pPr>
                      <a:r>
                        <a:t>fullstack_valid.txt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Lina Marquez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Full Stack Developer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Full Stack Developer, Backend Developer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ourier New"/>
                        </a:defRPr>
                      </a:pPr>
                      <a:r>
                        <a:t>fullstack_invalid.txt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Mateo Rios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Full Stack Developer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Backend Developer (Full Stack rejected)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ourier New"/>
                        </a:defRPr>
                      </a:pPr>
                      <a:r>
                        <a:t>backend_sample.txt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Sara Beltran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Backend Developer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Backend Developer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ourier New"/>
                        </a:defRPr>
                      </a:pPr>
                      <a:r>
                        <a:t>ml_engineer_valid.txt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Celeste Arboleda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ML Engineer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ML Engineer, Backend Developer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ourier New"/>
                        </a:defRPr>
                      </a:pPr>
                      <a:r>
                        <a:t>ml_engineer_invalid.txt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Dario Pineda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ML Engineer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Backend Developer, Data Engineer (ML rejected)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ourier New"/>
                        </a:defRPr>
                      </a:pPr>
                      <a:r>
                        <a:t>data_engineer_sample.txt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Rafaela Quintero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Data Engineer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Data Engineer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5486400"/>
            <a:ext cx="10728655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596128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Segoe UI"/>
              </a:defRPr>
            </a:pPr>
            <a:r>
              <a:t>EMPIRICAL FINDING: PROFILE OVERLAP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Notice that Full Stack and ML candidates frequently satisfy the Backend Developer automaton. This reflects real-world skill subsetting (Full Stack includes backend skills) rather than an error in classification.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RESUMELENS · FORMAL RESUME SCREENING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Verification &amp; Quality Assurance: 100/100 Tests Passing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00400" cy="3931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274320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6400" b="1">
                <a:solidFill>
                  <a:srgbClr val="10B981"/>
                </a:solidFill>
                <a:latin typeface="Arial"/>
              </a:defRPr>
            </a:pPr>
            <a:r>
              <a:t>100</a:t>
            </a:r>
          </a:p>
          <a:p>
            <a:pPr>
              <a:spcBef>
                <a:spcPts val="400"/>
              </a:spcBef>
              <a:defRPr sz="1400" b="1">
                <a:solidFill>
                  <a:srgbClr val="F8FAFC"/>
                </a:solidFill>
                <a:latin typeface="Segoe UI"/>
              </a:defRPr>
            </a:pPr>
            <a:r>
              <a:t>Automated Tests Passing</a:t>
            </a:r>
          </a:p>
          <a:p>
            <a:pPr>
              <a:spcBef>
                <a:spcPts val="12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• Suite runtime: 4.24 seconds</a:t>
            </a:r>
            <a:br/>
            <a:r>
              <a:t>• Zero test failures or errors</a:t>
            </a:r>
            <a:br/>
            <a:r>
              <a:t>• 100% deterministic suite</a:t>
            </a:r>
            <a:br/>
            <a:r>
              <a:t>• Continuous integration ready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371600"/>
            <a:ext cx="7345375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43400" y="1600200"/>
            <a:ext cx="685800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Arial"/>
              </a:defRPr>
            </a:pPr>
            <a:r>
              <a:t>Test Coverage by Architectural Layer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test_e2e_resumes.py (37 Tests):  End-to-end dataset screening, cross-profile evaluation, output idempotence.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test_extraction.py (15 Tests):  Email, phone, LinkedIn, GitHub, and technical skill regex boundary checks.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test_normalization.py (10 Tests):  FST prefix transitions, emission verification, and alias resolution.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test_visualization_html.py (10 Tests):  HTML template rendering, candidate badge generation, report stability.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test_recognition.py (9 Tests):  Automata state acceptance, rejected paths, canonical order invariance.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test_visualization_md.py (6 Tests):  Markdown report generation, table formatting, and CLI summary blocks.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test_taxonomy.py (5 Tests):  Alphabet integrity, role priority configuration, and tier uniqueness.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test_dsl.py &amp; env (8 Tests):  textX grammar validation, AST deserialization, and environment checks.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486400"/>
            <a:ext cx="10728655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596128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VERIFICATION RIGOR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Unit tests verify individual tuple properties (transitions, emissions, symbols); integration tests verify full pipeline idempotence (repeated executions yield bit-for-bit identical DSL outputs).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RESUMELENS · FORMAL RESUME SCREENING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Conclusions, Formal Limitations &amp; Future Research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475488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Arial"/>
              </a:defRPr>
            </a:pPr>
            <a:r>
              <a:t>Critical Appraisal &amp; Limitations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Acceptance ≠ Candidate Competence: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ACCEPTED proves only that the extracted sequence matched the formal grammar and automaton. It does not measure real-world performance, coding skill, or absence of bias.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Synthetic Dataset Scope: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Tests were conducted on 6 synthetic resumes. Real-world resumes contain OCR errors, arbitrary PDF layouts, and unstructured narrative prose.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Lexical Horizon: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Currently bounded to 47 input symbols and 34 canonical skills. Skill variations outside the dictionary are omitted.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42255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00200"/>
            <a:ext cx="475488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Arial"/>
              </a:defRPr>
            </a:pPr>
            <a:r>
              <a:t>Future Work &amp; Theoretical Extensions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Context-Sensitive Grammars (Type-1):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Model cross-field dependencies (e.g. binding years of experience directly to specific programming languages rather than global counters).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Multilingual Transducers: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Expand transducer alphabets to support Spanish, Portuguese, and international technical terminology.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Weighted Automata &amp; Probabilistic FSTs: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Incorporate edge weights for candidate ranking while preserving the deterministic, inspectable transition structure.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486400"/>
            <a:ext cx="10728655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596128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REPOSITORY &amp; OPEN RESEARCH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https://github.com/nicolasbuelvas/IntegrativeTask_AlbertoIA   ·   Discrete Structures III   ·   Thank You!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